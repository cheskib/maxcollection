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4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6281928" y="0"/>
            <a:ext cx="5907024" cy="6858000"/>
          </a:xfrm>
          <a:prstGeom prst="rect">
            <a:avLst/>
          </a:prstGeom>
        </p:spPr>
      </p:pic>
      <p:sp>
        <p:nvSpPr>
          <p:cNvPr id="3" name="Text 0"/>
          <p:cNvSpPr/>
          <p:nvPr/>
        </p:nvSpPr>
        <p:spPr>
          <a:xfrm>
            <a:off x="502920" y="1417320"/>
            <a:ext cx="5394960" cy="365760"/>
          </a:xfrm>
          <a:prstGeom prst="rect">
            <a:avLst/>
          </a:prstGeom>
          <a:noFill/>
          <a:ln/>
        </p:spPr>
        <p:txBody>
          <a:bodyPr wrap="square" lIns="0" tIns="0" rIns="0" bIns="0" rtlCol="0" anchor="ctr"/>
          <a:lstStyle/>
          <a:p>
            <a:pPr indent="0" marL="0">
              <a:buNone/>
            </a:pPr>
            <a:r>
              <a:rPr lang="en-US" sz="1400" b="1" spc="500" kern="0" dirty="0">
                <a:solidFill>
                  <a:srgbClr val="8A93A6"/>
                </a:solidFill>
                <a:latin typeface="Arial" pitchFamily="34" charset="0"/>
                <a:ea typeface="Arial" pitchFamily="34" charset="-122"/>
                <a:cs typeface="Arial" pitchFamily="34" charset="-120"/>
              </a:rPr>
              <a:t>MAX COLLECTION</a:t>
            </a:r>
            <a:endParaRPr lang="en-US" sz="1400" dirty="0"/>
          </a:p>
        </p:txBody>
      </p:sp>
      <p:sp>
        <p:nvSpPr>
          <p:cNvPr id="4" name="Text 1"/>
          <p:cNvSpPr/>
          <p:nvPr/>
        </p:nvSpPr>
        <p:spPr>
          <a:xfrm>
            <a:off x="475488" y="1828800"/>
            <a:ext cx="5577840" cy="201168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Arial" pitchFamily="34" charset="0"/>
                <a:ea typeface="Arial" pitchFamily="34" charset="-122"/>
                <a:cs typeface="Arial" pitchFamily="34" charset="-120"/>
              </a:rPr>
              <a:t>How the</a:t>
            </a:r>
            <a:endParaRPr lang="en-US" sz="4400" dirty="0"/>
          </a:p>
          <a:p>
            <a:pPr indent="0" marL="0">
              <a:lnSpc>
                <a:spcPct val="102000"/>
              </a:lnSpc>
              <a:buNone/>
            </a:pPr>
            <a:r>
              <a:rPr lang="en-US" sz="4400" b="1" dirty="0">
                <a:solidFill>
                  <a:srgbClr val="FFFFFF"/>
                </a:solidFill>
                <a:latin typeface="Arial" pitchFamily="34" charset="0"/>
                <a:ea typeface="Arial" pitchFamily="34" charset="-122"/>
                <a:cs typeface="Arial" pitchFamily="34" charset="-120"/>
              </a:rPr>
              <a:t>Comic Line Works</a:t>
            </a:r>
            <a:endParaRPr lang="en-US" sz="4400" dirty="0"/>
          </a:p>
        </p:txBody>
      </p:sp>
      <p:sp>
        <p:nvSpPr>
          <p:cNvPr id="5" name="Text 2"/>
          <p:cNvSpPr/>
          <p:nvPr/>
        </p:nvSpPr>
        <p:spPr>
          <a:xfrm>
            <a:off x="502920" y="3977640"/>
            <a:ext cx="5394960" cy="914400"/>
          </a:xfrm>
          <a:prstGeom prst="rect">
            <a:avLst/>
          </a:prstGeom>
          <a:noFill/>
          <a:ln/>
        </p:spPr>
        <p:txBody>
          <a:bodyPr wrap="square" lIns="0" tIns="0" rIns="0" bIns="0" rtlCol="0" anchor="ctr"/>
          <a:lstStyle/>
          <a:p>
            <a:pPr indent="0" marL="0">
              <a:lnSpc>
                <a:spcPct val="120000"/>
              </a:lnSpc>
              <a:buNone/>
            </a:pPr>
            <a:r>
              <a:rPr lang="en-US" sz="1500" dirty="0">
                <a:solidFill>
                  <a:srgbClr val="CBD2DE"/>
                </a:solidFill>
                <a:latin typeface="Arial" pitchFamily="34" charset="0"/>
                <a:ea typeface="Arial" pitchFamily="34" charset="-122"/>
                <a:cs typeface="Arial" pitchFamily="34" charset="-120"/>
              </a:rPr>
              <a:t>Six comics, one photograph —</a:t>
            </a:r>
            <a:endParaRPr lang="en-US" sz="1500" dirty="0"/>
          </a:p>
          <a:p>
            <a:pPr indent="0" marL="0">
              <a:lnSpc>
                <a:spcPct val="120000"/>
              </a:lnSpc>
              <a:buNone/>
            </a:pPr>
            <a:r>
              <a:rPr lang="en-US" sz="1500" dirty="0">
                <a:solidFill>
                  <a:srgbClr val="CBD2DE"/>
                </a:solidFill>
                <a:latin typeface="Arial" pitchFamily="34" charset="0"/>
                <a:ea typeface="Arial" pitchFamily="34" charset="-122"/>
                <a:cs typeface="Arial" pitchFamily="34" charset="-120"/>
              </a:rPr>
              <a:t>and the picture itself is the paperwork.</a:t>
            </a:r>
            <a:endParaRPr lang="en-US" sz="1500" dirty="0"/>
          </a:p>
        </p:txBody>
      </p:sp>
      <p:sp>
        <p:nvSpPr>
          <p:cNvPr id="6" name="Shape 3"/>
          <p:cNvSpPr/>
          <p:nvPr/>
        </p:nvSpPr>
        <p:spPr>
          <a:xfrm>
            <a:off x="502920" y="5166360"/>
            <a:ext cx="1188720" cy="420624"/>
          </a:xfrm>
          <a:prstGeom prst="roundRect">
            <a:avLst>
              <a:gd name="adj" fmla="val 17391"/>
            </a:avLst>
          </a:prstGeom>
          <a:solidFill>
            <a:srgbClr val="7A5BD4"/>
          </a:solidFill>
          <a:ln/>
        </p:spPr>
      </p:sp>
      <p:sp>
        <p:nvSpPr>
          <p:cNvPr id="7" name="Text 4"/>
          <p:cNvSpPr/>
          <p:nvPr/>
        </p:nvSpPr>
        <p:spPr>
          <a:xfrm>
            <a:off x="502920" y="5166360"/>
            <a:ext cx="1188720" cy="420624"/>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LAY</a:t>
            </a:r>
            <a:endParaRPr lang="en-US" sz="1200" dirty="0"/>
          </a:p>
        </p:txBody>
      </p:sp>
      <p:sp>
        <p:nvSpPr>
          <p:cNvPr id="8" name="Shape 5"/>
          <p:cNvSpPr/>
          <p:nvPr/>
        </p:nvSpPr>
        <p:spPr>
          <a:xfrm>
            <a:off x="1920240" y="5166360"/>
            <a:ext cx="1188720" cy="420624"/>
          </a:xfrm>
          <a:prstGeom prst="roundRect">
            <a:avLst>
              <a:gd name="adj" fmla="val 17391"/>
            </a:avLst>
          </a:prstGeom>
          <a:solidFill>
            <a:srgbClr val="2E6EE0"/>
          </a:solidFill>
          <a:ln/>
        </p:spPr>
      </p:sp>
      <p:sp>
        <p:nvSpPr>
          <p:cNvPr id="9" name="Text 6"/>
          <p:cNvSpPr/>
          <p:nvPr/>
        </p:nvSpPr>
        <p:spPr>
          <a:xfrm>
            <a:off x="1920240" y="5166360"/>
            <a:ext cx="1188720" cy="420624"/>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SHOOT</a:t>
            </a:r>
            <a:endParaRPr lang="en-US" sz="1200" dirty="0"/>
          </a:p>
        </p:txBody>
      </p:sp>
      <p:sp>
        <p:nvSpPr>
          <p:cNvPr id="10" name="Shape 7"/>
          <p:cNvSpPr/>
          <p:nvPr/>
        </p:nvSpPr>
        <p:spPr>
          <a:xfrm>
            <a:off x="3337560" y="5166360"/>
            <a:ext cx="1188720" cy="420624"/>
          </a:xfrm>
          <a:prstGeom prst="roundRect">
            <a:avLst>
              <a:gd name="adj" fmla="val 17391"/>
            </a:avLst>
          </a:prstGeom>
          <a:solidFill>
            <a:srgbClr val="1D9C62"/>
          </a:solidFill>
          <a:ln/>
        </p:spPr>
      </p:sp>
      <p:sp>
        <p:nvSpPr>
          <p:cNvPr id="11" name="Text 8"/>
          <p:cNvSpPr/>
          <p:nvPr/>
        </p:nvSpPr>
        <p:spPr>
          <a:xfrm>
            <a:off x="3337560" y="5166360"/>
            <a:ext cx="1188720" cy="420624"/>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BAG</a:t>
            </a:r>
            <a:endParaRPr lang="en-US" sz="1200" dirty="0"/>
          </a:p>
        </p:txBody>
      </p:sp>
      <p:sp>
        <p:nvSpPr>
          <p:cNvPr id="12" name="Shape 9"/>
          <p:cNvSpPr/>
          <p:nvPr/>
        </p:nvSpPr>
        <p:spPr>
          <a:xfrm>
            <a:off x="4754880" y="5166360"/>
            <a:ext cx="1188720" cy="420624"/>
          </a:xfrm>
          <a:prstGeom prst="roundRect">
            <a:avLst>
              <a:gd name="adj" fmla="val 17391"/>
            </a:avLst>
          </a:prstGeom>
          <a:solidFill>
            <a:srgbClr val="DD8A15"/>
          </a:solidFill>
          <a:ln/>
        </p:spPr>
      </p:sp>
      <p:sp>
        <p:nvSpPr>
          <p:cNvPr id="13" name="Text 10"/>
          <p:cNvSpPr/>
          <p:nvPr/>
        </p:nvSpPr>
        <p:spPr>
          <a:xfrm>
            <a:off x="4754880" y="5166360"/>
            <a:ext cx="1188720" cy="420624"/>
          </a:xfrm>
          <a:prstGeom prst="rect">
            <a:avLst/>
          </a:prstGeom>
          <a:noFill/>
          <a:ln/>
        </p:spPr>
        <p:txBody>
          <a:bodyPr wrap="square" lIns="0" tIns="0" rIns="0" bIns="0" rtlCol="0" anchor="ctr"/>
          <a:lstStyle/>
          <a:p>
            <a:pPr algn="ctr" indent="0" marL="0">
              <a:buNone/>
            </a:pPr>
            <a:r>
              <a:rPr lang="en-US" sz="1200" b="1" spc="200" kern="0" dirty="0">
                <a:solidFill>
                  <a:srgbClr val="FFFFFF"/>
                </a:solidFill>
                <a:latin typeface="Arial" pitchFamily="34" charset="0"/>
                <a:ea typeface="Arial" pitchFamily="34" charset="-122"/>
                <a:cs typeface="Arial" pitchFamily="34" charset="-120"/>
              </a:rPr>
              <a:t>BOX</a:t>
            </a:r>
            <a:endParaRPr lang="en-US" sz="1200" dirty="0"/>
          </a:p>
        </p:txBody>
      </p:sp>
      <p:sp>
        <p:nvSpPr>
          <p:cNvPr id="14" name="Text 11"/>
          <p:cNvSpPr/>
          <p:nvPr/>
        </p:nvSpPr>
        <p:spPr>
          <a:xfrm>
            <a:off x="502920" y="6473952"/>
            <a:ext cx="5486400" cy="274320"/>
          </a:xfrm>
          <a:prstGeom prst="rect">
            <a:avLst/>
          </a:prstGeom>
          <a:noFill/>
          <a:ln/>
        </p:spPr>
        <p:txBody>
          <a:bodyPr wrap="square" lIns="0" tIns="0" rIns="0" bIns="0" rtlCol="0" anchor="ctr"/>
          <a:lstStyle/>
          <a:p>
            <a:pPr indent="0" marL="0">
              <a:buNone/>
            </a:pPr>
            <a:r>
              <a:rPr lang="en-US" sz="900" b="1" spc="300" kern="0" dirty="0">
                <a:solidFill>
                  <a:srgbClr val="8A93A6"/>
                </a:solidFill>
                <a:latin typeface="Arial" pitchFamily="34" charset="0"/>
                <a:ea typeface="Arial" pitchFamily="34" charset="-122"/>
                <a:cs typeface="Arial" pitchFamily="34" charset="-120"/>
              </a:rPr>
              <a:t>MAX COLLECTION  ·  VSS TECHNOLOGY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55680" cy="685800"/>
          </a:xfrm>
          <a:prstGeom prst="rect">
            <a:avLst/>
          </a:prstGeom>
          <a:noFill/>
          <a:ln/>
        </p:spPr>
        <p:txBody>
          <a:bodyPr wrap="square" lIns="0" tIns="0" rIns="0" bIns="0" rtlCol="0" anchor="ctr"/>
          <a:lstStyle/>
          <a:p>
            <a:pPr indent="0" marL="0">
              <a:buNone/>
            </a:pPr>
            <a:r>
              <a:rPr lang="en-US" sz="3400" b="1" dirty="0">
                <a:solidFill>
                  <a:srgbClr val="1D2433"/>
                </a:solidFill>
                <a:latin typeface="Arial" pitchFamily="34" charset="0"/>
                <a:ea typeface="Arial" pitchFamily="34" charset="-122"/>
                <a:cs typeface="Arial" pitchFamily="34" charset="-120"/>
              </a:rPr>
              <a:t>Three rules run the comic line</a:t>
            </a:r>
            <a:endParaRPr lang="en-US" sz="3400" dirty="0"/>
          </a:p>
        </p:txBody>
      </p:sp>
      <p:sp>
        <p:nvSpPr>
          <p:cNvPr id="3" name="Shape 1"/>
          <p:cNvSpPr/>
          <p:nvPr/>
        </p:nvSpPr>
        <p:spPr>
          <a:xfrm>
            <a:off x="502920" y="1600200"/>
            <a:ext cx="3520440" cy="4160520"/>
          </a:xfrm>
          <a:prstGeom prst="roundRect">
            <a:avLst>
              <a:gd name="adj" fmla="val 2597"/>
            </a:avLst>
          </a:prstGeom>
          <a:solidFill>
            <a:srgbClr val="F6F4F0"/>
          </a:solidFill>
          <a:ln/>
          <a:effectLst>
            <a:outerShdw sx="100000" sy="100000" kx="0" ky="0" algn="bl" rotWithShape="0" blurRad="76200" dist="25400" dir="5400000">
              <a:srgbClr val="AAAAAA">
                <a:alpha val="30000"/>
              </a:srgbClr>
            </a:outerShdw>
          </a:effectLst>
        </p:spPr>
      </p:sp>
      <p:sp>
        <p:nvSpPr>
          <p:cNvPr id="4" name="Shape 2"/>
          <p:cNvSpPr/>
          <p:nvPr/>
        </p:nvSpPr>
        <p:spPr>
          <a:xfrm>
            <a:off x="822960" y="1965960"/>
            <a:ext cx="566928" cy="566928"/>
          </a:xfrm>
          <a:prstGeom prst="ellipse">
            <a:avLst/>
          </a:prstGeom>
          <a:solidFill>
            <a:srgbClr val="7A5BD4"/>
          </a:solidFill>
          <a:ln/>
        </p:spPr>
      </p:sp>
      <p:sp>
        <p:nvSpPr>
          <p:cNvPr id="5" name="Text 3"/>
          <p:cNvSpPr/>
          <p:nvPr/>
        </p:nvSpPr>
        <p:spPr>
          <a:xfrm>
            <a:off x="822960" y="19659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822960" y="2743200"/>
            <a:ext cx="2926080" cy="777240"/>
          </a:xfrm>
          <a:prstGeom prst="rect">
            <a:avLst/>
          </a:prstGeom>
          <a:noFill/>
          <a:ln/>
        </p:spPr>
        <p:txBody>
          <a:bodyPr wrap="square" lIns="0" tIns="0" rIns="0" bIns="0" rtlCol="0" anchor="ctr"/>
          <a:lstStyle/>
          <a:p>
            <a:pPr indent="0" marL="0">
              <a:buNone/>
            </a:pPr>
            <a:r>
              <a:rPr lang="en-US" sz="1900" b="1" dirty="0">
                <a:solidFill>
                  <a:srgbClr val="1D2433"/>
                </a:solidFill>
                <a:latin typeface="Arial" pitchFamily="34" charset="0"/>
                <a:ea typeface="Arial" pitchFamily="34" charset="-122"/>
                <a:cs typeface="Arial" pitchFamily="34" charset="-120"/>
              </a:rPr>
              <a:t>Front cover only</a:t>
            </a:r>
            <a:endParaRPr lang="en-US" sz="1900" dirty="0"/>
          </a:p>
        </p:txBody>
      </p:sp>
      <p:sp>
        <p:nvSpPr>
          <p:cNvPr id="7" name="Text 5"/>
          <p:cNvSpPr/>
          <p:nvPr/>
        </p:nvSpPr>
        <p:spPr>
          <a:xfrm>
            <a:off x="822960" y="3474720"/>
            <a:ext cx="2926080" cy="2194560"/>
          </a:xfrm>
          <a:prstGeom prst="rect">
            <a:avLst/>
          </a:prstGeom>
          <a:noFill/>
          <a:ln/>
        </p:spPr>
        <p:txBody>
          <a:bodyPr wrap="square" lIns="0" tIns="0" rIns="0" bIns="0" rtlCol="0" anchor="ctr"/>
          <a:lstStyle/>
          <a:p>
            <a:pPr indent="0" marL="0">
              <a:lnSpc>
                <a:spcPct val="118000"/>
              </a:lnSpc>
              <a:buNone/>
            </a:pPr>
            <a:r>
              <a:rPr lang="en-US" sz="1250" dirty="0">
                <a:solidFill>
                  <a:srgbClr val="5D6472"/>
                </a:solidFill>
                <a:latin typeface="Arial" pitchFamily="34" charset="0"/>
                <a:ea typeface="Arial" pitchFamily="34" charset="-122"/>
                <a:cs typeface="Arial" pitchFamily="34" charset="-120"/>
              </a:rPr>
              <a:t>Comic backs are usually advertisements. The front cover carries everything — title, issue number, publisher, cover date — so every comic is one photograph, never two.</a:t>
            </a:r>
            <a:endParaRPr lang="en-US" sz="1250" dirty="0"/>
          </a:p>
        </p:txBody>
      </p:sp>
      <p:sp>
        <p:nvSpPr>
          <p:cNvPr id="8" name="Shape 6"/>
          <p:cNvSpPr/>
          <p:nvPr/>
        </p:nvSpPr>
        <p:spPr>
          <a:xfrm>
            <a:off x="4297680" y="1600200"/>
            <a:ext cx="3520440" cy="4160520"/>
          </a:xfrm>
          <a:prstGeom prst="roundRect">
            <a:avLst>
              <a:gd name="adj" fmla="val 2597"/>
            </a:avLst>
          </a:prstGeom>
          <a:solidFill>
            <a:srgbClr val="F6F4F0"/>
          </a:solidFill>
          <a:ln/>
          <a:effectLst>
            <a:outerShdw sx="100000" sy="100000" kx="0" ky="0" algn="bl" rotWithShape="0" blurRad="76200" dist="25400" dir="5400000">
              <a:srgbClr val="AAAAAA">
                <a:alpha val="30000"/>
              </a:srgbClr>
            </a:outerShdw>
          </a:effectLst>
        </p:spPr>
      </p:sp>
      <p:sp>
        <p:nvSpPr>
          <p:cNvPr id="9" name="Shape 7"/>
          <p:cNvSpPr/>
          <p:nvPr/>
        </p:nvSpPr>
        <p:spPr>
          <a:xfrm>
            <a:off x="4617720" y="1965960"/>
            <a:ext cx="566928" cy="566928"/>
          </a:xfrm>
          <a:prstGeom prst="ellipse">
            <a:avLst/>
          </a:prstGeom>
          <a:solidFill>
            <a:srgbClr val="2E6EE0"/>
          </a:solidFill>
          <a:ln/>
        </p:spPr>
      </p:sp>
      <p:sp>
        <p:nvSpPr>
          <p:cNvPr id="10" name="Text 8"/>
          <p:cNvSpPr/>
          <p:nvPr/>
        </p:nvSpPr>
        <p:spPr>
          <a:xfrm>
            <a:off x="4617720" y="19659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Text 9"/>
          <p:cNvSpPr/>
          <p:nvPr/>
        </p:nvSpPr>
        <p:spPr>
          <a:xfrm>
            <a:off x="4617720" y="2743200"/>
            <a:ext cx="2926080" cy="777240"/>
          </a:xfrm>
          <a:prstGeom prst="rect">
            <a:avLst/>
          </a:prstGeom>
          <a:noFill/>
          <a:ln/>
        </p:spPr>
        <p:txBody>
          <a:bodyPr wrap="square" lIns="0" tIns="0" rIns="0" bIns="0" rtlCol="0" anchor="ctr"/>
          <a:lstStyle/>
          <a:p>
            <a:pPr indent="0" marL="0">
              <a:buNone/>
            </a:pPr>
            <a:r>
              <a:rPr lang="en-US" sz="1900" b="1" dirty="0">
                <a:solidFill>
                  <a:srgbClr val="1D2433"/>
                </a:solidFill>
                <a:latin typeface="Arial" pitchFamily="34" charset="0"/>
                <a:ea typeface="Arial" pitchFamily="34" charset="-122"/>
                <a:cs typeface="Arial" pitchFamily="34" charset="-120"/>
              </a:rPr>
              <a:t>The photo is the paperwork</a:t>
            </a:r>
            <a:endParaRPr lang="en-US" sz="1900" dirty="0"/>
          </a:p>
        </p:txBody>
      </p:sp>
      <p:sp>
        <p:nvSpPr>
          <p:cNvPr id="12" name="Text 10"/>
          <p:cNvSpPr/>
          <p:nvPr/>
        </p:nvSpPr>
        <p:spPr>
          <a:xfrm>
            <a:off x="4617720" y="3474720"/>
            <a:ext cx="2926080" cy="2194560"/>
          </a:xfrm>
          <a:prstGeom prst="rect">
            <a:avLst/>
          </a:prstGeom>
          <a:noFill/>
          <a:ln/>
        </p:spPr>
        <p:txBody>
          <a:bodyPr wrap="square" lIns="0" tIns="0" rIns="0" bIns="0" rtlCol="0" anchor="ctr"/>
          <a:lstStyle/>
          <a:p>
            <a:pPr indent="0" marL="0">
              <a:lnSpc>
                <a:spcPct val="118000"/>
              </a:lnSpc>
              <a:buNone/>
            </a:pPr>
            <a:r>
              <a:rPr lang="en-US" sz="1250" dirty="0">
                <a:solidFill>
                  <a:srgbClr val="5D6472"/>
                </a:solidFill>
                <a:latin typeface="Arial" pitchFamily="34" charset="0"/>
                <a:ea typeface="Arial" pitchFamily="34" charset="-122"/>
                <a:cs typeface="Arial" pitchFamily="34" charset="-120"/>
              </a:rPr>
              <a:t>Every frame contains the six comics AND the bag ticket. The photograph documents itself: the system reads the ticket in the image and binds the batch to its bag with zero screen time.</a:t>
            </a:r>
            <a:endParaRPr lang="en-US" sz="1250" dirty="0"/>
          </a:p>
        </p:txBody>
      </p:sp>
      <p:sp>
        <p:nvSpPr>
          <p:cNvPr id="13" name="Shape 11"/>
          <p:cNvSpPr/>
          <p:nvPr/>
        </p:nvSpPr>
        <p:spPr>
          <a:xfrm>
            <a:off x="8092440" y="1600200"/>
            <a:ext cx="3520440" cy="4160520"/>
          </a:xfrm>
          <a:prstGeom prst="roundRect">
            <a:avLst>
              <a:gd name="adj" fmla="val 2597"/>
            </a:avLst>
          </a:prstGeom>
          <a:solidFill>
            <a:srgbClr val="F6F4F0"/>
          </a:solidFill>
          <a:ln/>
          <a:effectLst>
            <a:outerShdw sx="100000" sy="100000" kx="0" ky="0" algn="bl" rotWithShape="0" blurRad="76200" dist="25400" dir="5400000">
              <a:srgbClr val="AAAAAA">
                <a:alpha val="30000"/>
              </a:srgbClr>
            </a:outerShdw>
          </a:effectLst>
        </p:spPr>
      </p:sp>
      <p:sp>
        <p:nvSpPr>
          <p:cNvPr id="14" name="Shape 12"/>
          <p:cNvSpPr/>
          <p:nvPr/>
        </p:nvSpPr>
        <p:spPr>
          <a:xfrm>
            <a:off x="8412480" y="1965960"/>
            <a:ext cx="566928" cy="566928"/>
          </a:xfrm>
          <a:prstGeom prst="ellipse">
            <a:avLst/>
          </a:prstGeom>
          <a:solidFill>
            <a:srgbClr val="1D9C62"/>
          </a:solidFill>
          <a:ln/>
        </p:spPr>
      </p:sp>
      <p:sp>
        <p:nvSpPr>
          <p:cNvPr id="15" name="Text 13"/>
          <p:cNvSpPr/>
          <p:nvPr/>
        </p:nvSpPr>
        <p:spPr>
          <a:xfrm>
            <a:off x="8412480" y="19659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6" name="Text 14"/>
          <p:cNvSpPr/>
          <p:nvPr/>
        </p:nvSpPr>
        <p:spPr>
          <a:xfrm>
            <a:off x="8412480" y="2743200"/>
            <a:ext cx="2926080" cy="777240"/>
          </a:xfrm>
          <a:prstGeom prst="rect">
            <a:avLst/>
          </a:prstGeom>
          <a:noFill/>
          <a:ln/>
        </p:spPr>
        <p:txBody>
          <a:bodyPr wrap="square" lIns="0" tIns="0" rIns="0" bIns="0" rtlCol="0" anchor="ctr"/>
          <a:lstStyle/>
          <a:p>
            <a:pPr indent="0" marL="0">
              <a:buNone/>
            </a:pPr>
            <a:r>
              <a:rPr lang="en-US" sz="1900" b="1" dirty="0">
                <a:solidFill>
                  <a:srgbClr val="1D2433"/>
                </a:solidFill>
                <a:latin typeface="Arial" pitchFamily="34" charset="0"/>
                <a:ea typeface="Arial" pitchFamily="34" charset="-122"/>
                <a:cs typeface="Arial" pitchFamily="34" charset="-120"/>
              </a:rPr>
              <a:t>Six at a time</a:t>
            </a:r>
            <a:endParaRPr lang="en-US" sz="1900" dirty="0"/>
          </a:p>
        </p:txBody>
      </p:sp>
      <p:sp>
        <p:nvSpPr>
          <p:cNvPr id="17" name="Text 15"/>
          <p:cNvSpPr/>
          <p:nvPr/>
        </p:nvSpPr>
        <p:spPr>
          <a:xfrm>
            <a:off x="8412480" y="3474720"/>
            <a:ext cx="2926080" cy="2194560"/>
          </a:xfrm>
          <a:prstGeom prst="rect">
            <a:avLst/>
          </a:prstGeom>
          <a:noFill/>
          <a:ln/>
        </p:spPr>
        <p:txBody>
          <a:bodyPr wrap="square" lIns="0" tIns="0" rIns="0" bIns="0" rtlCol="0" anchor="ctr"/>
          <a:lstStyle/>
          <a:p>
            <a:pPr indent="0" marL="0">
              <a:lnSpc>
                <a:spcPct val="118000"/>
              </a:lnSpc>
              <a:buNone/>
            </a:pPr>
            <a:r>
              <a:rPr lang="en-US" sz="1250" dirty="0">
                <a:solidFill>
                  <a:srgbClr val="5D6472"/>
                </a:solidFill>
                <a:latin typeface="Arial" pitchFamily="34" charset="0"/>
                <a:ea typeface="Arial" pitchFamily="34" charset="-122"/>
                <a:cs typeface="Arial" pitchFamily="34" charset="-120"/>
              </a:rPr>
              <a:t>Lay six bare comics on the panel, step on the pedal, swap the panel. The camera never moves, the hands never leave the table, and the pace is seconds per comic.</a:t>
            </a:r>
            <a:endParaRPr lang="en-US" sz="1250" dirty="0"/>
          </a:p>
        </p:txBody>
      </p:sp>
      <p:sp>
        <p:nvSpPr>
          <p:cNvPr id="18" name="Text 16"/>
          <p:cNvSpPr/>
          <p:nvPr/>
        </p:nvSpPr>
        <p:spPr>
          <a:xfrm>
            <a:off x="502920" y="6473952"/>
            <a:ext cx="5486400" cy="274320"/>
          </a:xfrm>
          <a:prstGeom prst="rect">
            <a:avLst/>
          </a:prstGeom>
          <a:noFill/>
          <a:ln/>
        </p:spPr>
        <p:txBody>
          <a:bodyPr wrap="square" lIns="0" tIns="0" rIns="0" bIns="0" rtlCol="0" anchor="ctr"/>
          <a:lstStyle/>
          <a:p>
            <a:pPr indent="0" marL="0">
              <a:buNone/>
            </a:pPr>
            <a:r>
              <a:rPr lang="en-US" sz="900" b="1" spc="300" kern="0" dirty="0">
                <a:solidFill>
                  <a:srgbClr val="9AA1AF"/>
                </a:solidFill>
                <a:latin typeface="Arial" pitchFamily="34" charset="0"/>
                <a:ea typeface="Arial" pitchFamily="34" charset="-122"/>
                <a:cs typeface="Arial" pitchFamily="34" charset="-120"/>
              </a:rPr>
              <a:t>MAX COLLECTION  ·  VSS TECHNOLOGY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6281928" y="0"/>
            <a:ext cx="5907024" cy="6858000"/>
          </a:xfrm>
          <a:prstGeom prst="rect">
            <a:avLst/>
          </a:prstGeom>
        </p:spPr>
      </p:pic>
      <p:sp>
        <p:nvSpPr>
          <p:cNvPr id="3" name="Shape 0"/>
          <p:cNvSpPr/>
          <p:nvPr/>
        </p:nvSpPr>
        <p:spPr>
          <a:xfrm>
            <a:off x="502920" y="566928"/>
            <a:ext cx="2103120" cy="384048"/>
          </a:xfrm>
          <a:prstGeom prst="roundRect">
            <a:avLst>
              <a:gd name="adj" fmla="val 19048"/>
            </a:avLst>
          </a:prstGeom>
          <a:solidFill>
            <a:srgbClr val="7A5BD4"/>
          </a:solidFill>
          <a:ln/>
        </p:spPr>
      </p:sp>
      <p:sp>
        <p:nvSpPr>
          <p:cNvPr id="4" name="Text 1"/>
          <p:cNvSpPr/>
          <p:nvPr/>
        </p:nvSpPr>
        <p:spPr>
          <a:xfrm>
            <a:off x="502920" y="566928"/>
            <a:ext cx="2103120" cy="38404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STEP 1 · LAY</a:t>
            </a:r>
            <a:endParaRPr lang="en-US" sz="1300" dirty="0"/>
          </a:p>
        </p:txBody>
      </p:sp>
      <p:sp>
        <p:nvSpPr>
          <p:cNvPr id="5" name="Text 2"/>
          <p:cNvSpPr/>
          <p:nvPr/>
        </p:nvSpPr>
        <p:spPr>
          <a:xfrm>
            <a:off x="475488" y="1097280"/>
            <a:ext cx="5394960" cy="1234440"/>
          </a:xfrm>
          <a:prstGeom prst="rect">
            <a:avLst/>
          </a:prstGeom>
          <a:noFill/>
          <a:ln/>
        </p:spPr>
        <p:txBody>
          <a:bodyPr wrap="square" lIns="0" tIns="0" rIns="0" bIns="0" rtlCol="0" anchor="ctr"/>
          <a:lstStyle/>
          <a:p>
            <a:pPr indent="0" marL="0">
              <a:lnSpc>
                <a:spcPct val="100000"/>
              </a:lnSpc>
              <a:buNone/>
            </a:pPr>
            <a:r>
              <a:rPr lang="en-US" sz="3000" b="1" dirty="0">
                <a:solidFill>
                  <a:srgbClr val="1D2433"/>
                </a:solidFill>
                <a:latin typeface="Arial" pitchFamily="34" charset="0"/>
                <a:ea typeface="Arial" pitchFamily="34" charset="-122"/>
                <a:cs typeface="Arial" pitchFamily="34" charset="-120"/>
              </a:rPr>
              <a:t>Six comics on a panel</a:t>
            </a:r>
            <a:endParaRPr lang="en-US" sz="3000" dirty="0"/>
          </a:p>
        </p:txBody>
      </p:sp>
      <p:sp>
        <p:nvSpPr>
          <p:cNvPr id="6" name="Text 3"/>
          <p:cNvSpPr/>
          <p:nvPr/>
        </p:nvSpPr>
        <p:spPr>
          <a:xfrm>
            <a:off x="502920" y="2377440"/>
            <a:ext cx="5257800" cy="402336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Raw books only — never bagged, never boarded, never graded — those have their own path</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Two rows of three, face up — on the matte black panel; a little crooked is fine, the software straightens</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The bag ticket goes on the panel too — inside the frame, so the photo carries its own bag number</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Carts stage the next stacks — lay, shoot, swap — the panel is the unit of work</a:t>
            </a:r>
            <a:endParaRPr lang="en-US" sz="1450" dirty="0"/>
          </a:p>
        </p:txBody>
      </p:sp>
      <p:sp>
        <p:nvSpPr>
          <p:cNvPr id="7" name="Text 4"/>
          <p:cNvSpPr/>
          <p:nvPr/>
        </p:nvSpPr>
        <p:spPr>
          <a:xfrm>
            <a:off x="502920" y="6473952"/>
            <a:ext cx="5486400" cy="274320"/>
          </a:xfrm>
          <a:prstGeom prst="rect">
            <a:avLst/>
          </a:prstGeom>
          <a:noFill/>
          <a:ln/>
        </p:spPr>
        <p:txBody>
          <a:bodyPr wrap="square" lIns="0" tIns="0" rIns="0" bIns="0" rtlCol="0" anchor="ctr"/>
          <a:lstStyle/>
          <a:p>
            <a:pPr indent="0" marL="0">
              <a:buNone/>
            </a:pPr>
            <a:r>
              <a:rPr lang="en-US" sz="900" b="1" spc="300" kern="0" dirty="0">
                <a:solidFill>
                  <a:srgbClr val="9AA1AF"/>
                </a:solidFill>
                <a:latin typeface="Arial" pitchFamily="34" charset="0"/>
                <a:ea typeface="Arial" pitchFamily="34" charset="-122"/>
                <a:cs typeface="Arial" pitchFamily="34" charset="-120"/>
              </a:rPr>
              <a:t>MAX COLLECTION  ·  VSS TECHNOLOGY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5907024" cy="6858000"/>
          </a:xfrm>
          <a:prstGeom prst="rect">
            <a:avLst/>
          </a:prstGeom>
        </p:spPr>
      </p:pic>
      <p:sp>
        <p:nvSpPr>
          <p:cNvPr id="3" name="Shape 0"/>
          <p:cNvSpPr/>
          <p:nvPr/>
        </p:nvSpPr>
        <p:spPr>
          <a:xfrm>
            <a:off x="6400800" y="566928"/>
            <a:ext cx="2103120" cy="384048"/>
          </a:xfrm>
          <a:prstGeom prst="roundRect">
            <a:avLst>
              <a:gd name="adj" fmla="val 19048"/>
            </a:avLst>
          </a:prstGeom>
          <a:solidFill>
            <a:srgbClr val="2E6EE0"/>
          </a:solidFill>
          <a:ln/>
        </p:spPr>
      </p:sp>
      <p:sp>
        <p:nvSpPr>
          <p:cNvPr id="4" name="Text 1"/>
          <p:cNvSpPr/>
          <p:nvPr/>
        </p:nvSpPr>
        <p:spPr>
          <a:xfrm>
            <a:off x="6400800" y="566928"/>
            <a:ext cx="2103120" cy="38404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STEP 2 · SHOOT</a:t>
            </a:r>
            <a:endParaRPr lang="en-US" sz="1300" dirty="0"/>
          </a:p>
        </p:txBody>
      </p:sp>
      <p:sp>
        <p:nvSpPr>
          <p:cNvPr id="5" name="Text 2"/>
          <p:cNvSpPr/>
          <p:nvPr/>
        </p:nvSpPr>
        <p:spPr>
          <a:xfrm>
            <a:off x="6373368" y="1097280"/>
            <a:ext cx="5394960" cy="1234440"/>
          </a:xfrm>
          <a:prstGeom prst="rect">
            <a:avLst/>
          </a:prstGeom>
          <a:noFill/>
          <a:ln/>
        </p:spPr>
        <p:txBody>
          <a:bodyPr wrap="square" lIns="0" tIns="0" rIns="0" bIns="0" rtlCol="0" anchor="ctr"/>
          <a:lstStyle/>
          <a:p>
            <a:pPr indent="0" marL="0">
              <a:lnSpc>
                <a:spcPct val="100000"/>
              </a:lnSpc>
              <a:buNone/>
            </a:pPr>
            <a:r>
              <a:rPr lang="en-US" sz="3000" b="1" dirty="0">
                <a:solidFill>
                  <a:srgbClr val="1D2433"/>
                </a:solidFill>
                <a:latin typeface="Arial" pitchFamily="34" charset="0"/>
                <a:ea typeface="Arial" pitchFamily="34" charset="-122"/>
                <a:cs typeface="Arial" pitchFamily="34" charset="-120"/>
              </a:rPr>
              <a:t>One pedal, zero wear</a:t>
            </a:r>
            <a:endParaRPr lang="en-US" sz="3000" dirty="0"/>
          </a:p>
        </p:txBody>
      </p:sp>
      <p:sp>
        <p:nvSpPr>
          <p:cNvPr id="6" name="Text 3"/>
          <p:cNvSpPr/>
          <p:nvPr/>
        </p:nvSpPr>
        <p:spPr>
          <a:xfrm>
            <a:off x="6400800" y="2377440"/>
            <a:ext cx="5257800" cy="402336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The camera never moves — fixed overhead on a boom, framed once on the panel, tethered to the controller PC</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Electronic shutter — no moving parts — a hundred thousand frames costs the camera nothing</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Soft light from both sides at 45° — glossy covers, zero glare — the AI reads what it can see</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The foot pedal is the shutter — hands stay on the comics; the kiosk shows one giant button as backup and the running count</a:t>
            </a:r>
            <a:endParaRPr lang="en-US" sz="1450" dirty="0"/>
          </a:p>
        </p:txBody>
      </p:sp>
      <p:sp>
        <p:nvSpPr>
          <p:cNvPr id="7" name="Text 4"/>
          <p:cNvSpPr/>
          <p:nvPr/>
        </p:nvSpPr>
        <p:spPr>
          <a:xfrm>
            <a:off x="6400800" y="5806440"/>
            <a:ext cx="5257800" cy="548640"/>
          </a:xfrm>
          <a:prstGeom prst="rect">
            <a:avLst/>
          </a:prstGeom>
          <a:noFill/>
          <a:ln/>
        </p:spPr>
        <p:txBody>
          <a:bodyPr wrap="square" lIns="0" tIns="0" rIns="0" bIns="0" rtlCol="0" anchor="ctr"/>
          <a:lstStyle/>
          <a:p>
            <a:pPr indent="0" marL="0">
              <a:lnSpc>
                <a:spcPct val="115000"/>
              </a:lnSpc>
              <a:buNone/>
            </a:pPr>
            <a:r>
              <a:rPr lang="en-US" sz="1150" i="1" dirty="0">
                <a:solidFill>
                  <a:srgbClr val="5D6472"/>
                </a:solidFill>
                <a:latin typeface="Arial" pitchFamily="34" charset="0"/>
                <a:ea typeface="Arial" pitchFamily="34" charset="-122"/>
                <a:cs typeface="Arial" pitchFamily="34" charset="-120"/>
              </a:rPr>
              <a:t>Six comics per press. A 100,000-comic library is about 17,000 pedal steps.</a:t>
            </a:r>
            <a:endParaRPr lang="en-US" sz="1150" dirty="0"/>
          </a:p>
        </p:txBody>
      </p:sp>
      <p:sp>
        <p:nvSpPr>
          <p:cNvPr id="8" name="Text 5"/>
          <p:cNvSpPr/>
          <p:nvPr/>
        </p:nvSpPr>
        <p:spPr>
          <a:xfrm>
            <a:off x="502920" y="6473952"/>
            <a:ext cx="5486400" cy="274320"/>
          </a:xfrm>
          <a:prstGeom prst="rect">
            <a:avLst/>
          </a:prstGeom>
          <a:noFill/>
          <a:ln/>
        </p:spPr>
        <p:txBody>
          <a:bodyPr wrap="square" lIns="0" tIns="0" rIns="0" bIns="0" rtlCol="0" anchor="ctr"/>
          <a:lstStyle/>
          <a:p>
            <a:pPr indent="0" marL="0">
              <a:buNone/>
            </a:pPr>
            <a:r>
              <a:rPr lang="en-US" sz="900" b="1" spc="300" kern="0" dirty="0">
                <a:solidFill>
                  <a:srgbClr val="9AA1AF"/>
                </a:solidFill>
                <a:latin typeface="Arial" pitchFamily="34" charset="0"/>
                <a:ea typeface="Arial" pitchFamily="34" charset="-122"/>
                <a:cs typeface="Arial" pitchFamily="34" charset="-120"/>
              </a:rPr>
              <a:t>MAX COLLECTION  ·  VSS TECHNOLOGY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D24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411480" y="411480"/>
            <a:ext cx="6309360" cy="6035040"/>
          </a:xfrm>
          <a:prstGeom prst="rect">
            <a:avLst/>
          </a:prstGeom>
        </p:spPr>
      </p:pic>
      <p:sp>
        <p:nvSpPr>
          <p:cNvPr id="3" name="Text 0"/>
          <p:cNvSpPr/>
          <p:nvPr/>
        </p:nvSpPr>
        <p:spPr>
          <a:xfrm>
            <a:off x="7086600" y="1051560"/>
            <a:ext cx="4663440" cy="365760"/>
          </a:xfrm>
          <a:prstGeom prst="rect">
            <a:avLst/>
          </a:prstGeom>
          <a:noFill/>
          <a:ln/>
        </p:spPr>
        <p:txBody>
          <a:bodyPr wrap="square" lIns="0" tIns="0" rIns="0" bIns="0" rtlCol="0" anchor="ctr"/>
          <a:lstStyle/>
          <a:p>
            <a:pPr indent="0" marL="0">
              <a:buNone/>
            </a:pPr>
            <a:r>
              <a:rPr lang="en-US" sz="1300" b="1" spc="400" kern="0" dirty="0">
                <a:solidFill>
                  <a:srgbClr val="8A93A6"/>
                </a:solidFill>
                <a:latin typeface="Arial" pitchFamily="34" charset="0"/>
                <a:ea typeface="Arial" pitchFamily="34" charset="-122"/>
                <a:cs typeface="Arial" pitchFamily="34" charset="-120"/>
              </a:rPr>
              <a:t>WHAT THE CAMERA SEES</a:t>
            </a:r>
            <a:endParaRPr lang="en-US" sz="1300" dirty="0"/>
          </a:p>
        </p:txBody>
      </p:sp>
      <p:sp>
        <p:nvSpPr>
          <p:cNvPr id="4" name="Text 1"/>
          <p:cNvSpPr/>
          <p:nvPr/>
        </p:nvSpPr>
        <p:spPr>
          <a:xfrm>
            <a:off x="7059168" y="1463040"/>
            <a:ext cx="4754880" cy="2194560"/>
          </a:xfrm>
          <a:prstGeom prst="rect">
            <a:avLst/>
          </a:prstGeom>
          <a:noFill/>
          <a:ln/>
        </p:spPr>
        <p:txBody>
          <a:bodyPr wrap="square" lIns="0" tIns="0" rIns="0" bIns="0" rtlCol="0" anchor="ctr"/>
          <a:lstStyle/>
          <a:p>
            <a:pPr indent="0" marL="0">
              <a:lnSpc>
                <a:spcPct val="105000"/>
              </a:lnSpc>
              <a:buNone/>
            </a:pPr>
            <a:r>
              <a:rPr lang="en-US" sz="3200" b="1" dirty="0">
                <a:solidFill>
                  <a:srgbClr val="FFFFFF"/>
                </a:solidFill>
                <a:latin typeface="Arial" pitchFamily="34" charset="0"/>
                <a:ea typeface="Arial" pitchFamily="34" charset="-122"/>
                <a:cs typeface="Arial" pitchFamily="34" charset="-120"/>
              </a:rPr>
              <a:t>One frame,</a:t>
            </a:r>
            <a:endParaRPr lang="en-US" sz="3200" dirty="0"/>
          </a:p>
          <a:p>
            <a:pPr indent="0" marL="0">
              <a:lnSpc>
                <a:spcPct val="105000"/>
              </a:lnSpc>
              <a:buNone/>
            </a:pPr>
            <a:r>
              <a:rPr lang="en-US" sz="3200" b="1" dirty="0">
                <a:solidFill>
                  <a:srgbClr val="FFFFFF"/>
                </a:solidFill>
                <a:latin typeface="Arial" pitchFamily="34" charset="0"/>
                <a:ea typeface="Arial" pitchFamily="34" charset="-122"/>
                <a:cs typeface="Arial" pitchFamily="34" charset="-120"/>
              </a:rPr>
              <a:t>six comics,</a:t>
            </a:r>
            <a:endParaRPr lang="en-US" sz="3200" dirty="0"/>
          </a:p>
          <a:p>
            <a:pPr indent="0" marL="0">
              <a:lnSpc>
                <a:spcPct val="105000"/>
              </a:lnSpc>
              <a:buNone/>
            </a:pPr>
            <a:r>
              <a:rPr lang="en-US" sz="3200" b="1" dirty="0">
                <a:solidFill>
                  <a:srgbClr val="FFFFFF"/>
                </a:solidFill>
                <a:latin typeface="Arial" pitchFamily="34" charset="0"/>
                <a:ea typeface="Arial" pitchFamily="34" charset="-122"/>
                <a:cs typeface="Arial" pitchFamily="34" charset="-120"/>
              </a:rPr>
              <a:t>and the ticket.</a:t>
            </a:r>
            <a:endParaRPr lang="en-US" sz="3200" dirty="0"/>
          </a:p>
        </p:txBody>
      </p:sp>
      <p:sp>
        <p:nvSpPr>
          <p:cNvPr id="5" name="Text 2"/>
          <p:cNvSpPr/>
          <p:nvPr/>
        </p:nvSpPr>
        <p:spPr>
          <a:xfrm>
            <a:off x="7086600" y="3794760"/>
            <a:ext cx="4617720" cy="2011680"/>
          </a:xfrm>
          <a:prstGeom prst="rect">
            <a:avLst/>
          </a:prstGeom>
          <a:noFill/>
          <a:ln/>
        </p:spPr>
        <p:txBody>
          <a:bodyPr wrap="square" lIns="0" tIns="0" rIns="0" bIns="0" rtlCol="0" anchor="ctr"/>
          <a:lstStyle/>
          <a:p>
            <a:pPr indent="0" marL="0">
              <a:lnSpc>
                <a:spcPct val="125000"/>
              </a:lnSpc>
              <a:buNone/>
            </a:pPr>
            <a:r>
              <a:rPr lang="en-US" sz="1350" dirty="0">
                <a:solidFill>
                  <a:srgbClr val="CBD2DE"/>
                </a:solidFill>
                <a:latin typeface="Arial" pitchFamily="34" charset="0"/>
                <a:ea typeface="Arial" pitchFamily="34" charset="-122"/>
                <a:cs typeface="Arial" pitchFamily="34" charset="-120"/>
              </a:rPr>
              <a:t>The software splits the frame into six comics and reads the bag barcode right out of the image — the batch binds itself. Then the AI reads each cover: title, issue, publisher, year. The age — Golden, Silver, Bronze, Copper, Modern — derives from the year on its own.</a:t>
            </a:r>
            <a:endParaRPr lang="en-US" sz="1350" dirty="0"/>
          </a:p>
        </p:txBody>
      </p:sp>
      <p:sp>
        <p:nvSpPr>
          <p:cNvPr id="6" name="Text 3"/>
          <p:cNvSpPr/>
          <p:nvPr/>
        </p:nvSpPr>
        <p:spPr>
          <a:xfrm>
            <a:off x="502920" y="6473952"/>
            <a:ext cx="5486400" cy="274320"/>
          </a:xfrm>
          <a:prstGeom prst="rect">
            <a:avLst/>
          </a:prstGeom>
          <a:noFill/>
          <a:ln/>
        </p:spPr>
        <p:txBody>
          <a:bodyPr wrap="square" lIns="0" tIns="0" rIns="0" bIns="0" rtlCol="0" anchor="ctr"/>
          <a:lstStyle/>
          <a:p>
            <a:pPr indent="0" marL="0">
              <a:buNone/>
            </a:pPr>
            <a:r>
              <a:rPr lang="en-US" sz="900" b="1" spc="300" kern="0" dirty="0">
                <a:solidFill>
                  <a:srgbClr val="8A93A6"/>
                </a:solidFill>
                <a:latin typeface="Arial" pitchFamily="34" charset="0"/>
                <a:ea typeface="Arial" pitchFamily="34" charset="-122"/>
                <a:cs typeface="Arial" pitchFamily="34" charset="-120"/>
              </a:rPr>
              <a:t>MAX COLLECTION  ·  VSS TECHNOLOGY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6281928" y="0"/>
            <a:ext cx="5907024" cy="6858000"/>
          </a:xfrm>
          <a:prstGeom prst="rect">
            <a:avLst/>
          </a:prstGeom>
        </p:spPr>
      </p:pic>
      <p:sp>
        <p:nvSpPr>
          <p:cNvPr id="3" name="Shape 0"/>
          <p:cNvSpPr/>
          <p:nvPr/>
        </p:nvSpPr>
        <p:spPr>
          <a:xfrm>
            <a:off x="502920" y="566928"/>
            <a:ext cx="2103120" cy="384048"/>
          </a:xfrm>
          <a:prstGeom prst="roundRect">
            <a:avLst>
              <a:gd name="adj" fmla="val 19048"/>
            </a:avLst>
          </a:prstGeom>
          <a:solidFill>
            <a:srgbClr val="1D9C62"/>
          </a:solidFill>
          <a:ln/>
        </p:spPr>
      </p:sp>
      <p:sp>
        <p:nvSpPr>
          <p:cNvPr id="4" name="Text 1"/>
          <p:cNvSpPr/>
          <p:nvPr/>
        </p:nvSpPr>
        <p:spPr>
          <a:xfrm>
            <a:off x="502920" y="566928"/>
            <a:ext cx="2103120" cy="38404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STEP 3 · BAG</a:t>
            </a:r>
            <a:endParaRPr lang="en-US" sz="1300" dirty="0"/>
          </a:p>
        </p:txBody>
      </p:sp>
      <p:sp>
        <p:nvSpPr>
          <p:cNvPr id="5" name="Text 2"/>
          <p:cNvSpPr/>
          <p:nvPr/>
        </p:nvSpPr>
        <p:spPr>
          <a:xfrm>
            <a:off x="475488" y="1097280"/>
            <a:ext cx="5394960" cy="1234440"/>
          </a:xfrm>
          <a:prstGeom prst="rect">
            <a:avLst/>
          </a:prstGeom>
          <a:noFill/>
          <a:ln/>
        </p:spPr>
        <p:txBody>
          <a:bodyPr wrap="square" lIns="0" tIns="0" rIns="0" bIns="0" rtlCol="0" anchor="ctr"/>
          <a:lstStyle/>
          <a:p>
            <a:pPr indent="0" marL="0">
              <a:lnSpc>
                <a:spcPct val="100000"/>
              </a:lnSpc>
              <a:buNone/>
            </a:pPr>
            <a:r>
              <a:rPr lang="en-US" sz="3000" b="1" dirty="0">
                <a:solidFill>
                  <a:srgbClr val="1D2433"/>
                </a:solidFill>
                <a:latin typeface="Arial" pitchFamily="34" charset="0"/>
                <a:ea typeface="Arial" pitchFamily="34" charset="-122"/>
                <a:cs typeface="Arial" pitchFamily="34" charset="-120"/>
              </a:rPr>
              <a:t>Same bags, same rules</a:t>
            </a:r>
            <a:endParaRPr lang="en-US" sz="3000" dirty="0"/>
          </a:p>
        </p:txBody>
      </p:sp>
      <p:sp>
        <p:nvSpPr>
          <p:cNvPr id="6" name="Text 3"/>
          <p:cNvSpPr/>
          <p:nvPr/>
        </p:nvSpPr>
        <p:spPr>
          <a:xfrm>
            <a:off x="502920" y="2377440"/>
            <a:ext cx="5257800" cy="402336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Comics bag exactly like cards — scan the ticket → verdict before anything moves</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GOOD — peel the sticker onto the bag, comics in, seal — scan the bag again to close it out</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FLAGGED — problem tone, line locks, red SET-ASIDE card scan — then the next batch</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One bagging discipline for the whole floor — cards and comics share the station, the sounds, and the timings</a:t>
            </a:r>
            <a:endParaRPr lang="en-US" sz="1450" dirty="0"/>
          </a:p>
        </p:txBody>
      </p:sp>
      <p:sp>
        <p:nvSpPr>
          <p:cNvPr id="7" name="Text 4"/>
          <p:cNvSpPr/>
          <p:nvPr/>
        </p:nvSpPr>
        <p:spPr>
          <a:xfrm>
            <a:off x="502920" y="6473952"/>
            <a:ext cx="5486400" cy="274320"/>
          </a:xfrm>
          <a:prstGeom prst="rect">
            <a:avLst/>
          </a:prstGeom>
          <a:noFill/>
          <a:ln/>
        </p:spPr>
        <p:txBody>
          <a:bodyPr wrap="square" lIns="0" tIns="0" rIns="0" bIns="0" rtlCol="0" anchor="ctr"/>
          <a:lstStyle/>
          <a:p>
            <a:pPr indent="0" marL="0">
              <a:buNone/>
            </a:pPr>
            <a:r>
              <a:rPr lang="en-US" sz="900" b="1" spc="300" kern="0" dirty="0">
                <a:solidFill>
                  <a:srgbClr val="9AA1AF"/>
                </a:solidFill>
                <a:latin typeface="Arial" pitchFamily="34" charset="0"/>
                <a:ea typeface="Arial" pitchFamily="34" charset="-122"/>
                <a:cs typeface="Arial" pitchFamily="34" charset="-120"/>
              </a:rPr>
              <a:t>MAX COLLECTION  ·  VSS TECHNOLOGY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5907024" cy="6858000"/>
          </a:xfrm>
          <a:prstGeom prst="rect">
            <a:avLst/>
          </a:prstGeom>
        </p:spPr>
      </p:pic>
      <p:sp>
        <p:nvSpPr>
          <p:cNvPr id="3" name="Shape 0"/>
          <p:cNvSpPr/>
          <p:nvPr/>
        </p:nvSpPr>
        <p:spPr>
          <a:xfrm>
            <a:off x="6400800" y="566928"/>
            <a:ext cx="2103120" cy="384048"/>
          </a:xfrm>
          <a:prstGeom prst="roundRect">
            <a:avLst>
              <a:gd name="adj" fmla="val 19048"/>
            </a:avLst>
          </a:prstGeom>
          <a:solidFill>
            <a:srgbClr val="DD8A15"/>
          </a:solidFill>
          <a:ln/>
        </p:spPr>
      </p:sp>
      <p:sp>
        <p:nvSpPr>
          <p:cNvPr id="4" name="Text 1"/>
          <p:cNvSpPr/>
          <p:nvPr/>
        </p:nvSpPr>
        <p:spPr>
          <a:xfrm>
            <a:off x="6400800" y="566928"/>
            <a:ext cx="2103120" cy="38404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Arial" pitchFamily="34" charset="0"/>
                <a:ea typeface="Arial" pitchFamily="34" charset="-122"/>
                <a:cs typeface="Arial" pitchFamily="34" charset="-120"/>
              </a:rPr>
              <a:t>STEP 4 · BOX</a:t>
            </a:r>
            <a:endParaRPr lang="en-US" sz="1300" dirty="0"/>
          </a:p>
        </p:txBody>
      </p:sp>
      <p:sp>
        <p:nvSpPr>
          <p:cNvPr id="5" name="Text 2"/>
          <p:cNvSpPr/>
          <p:nvPr/>
        </p:nvSpPr>
        <p:spPr>
          <a:xfrm>
            <a:off x="6373368" y="1097280"/>
            <a:ext cx="5394960" cy="1234440"/>
          </a:xfrm>
          <a:prstGeom prst="rect">
            <a:avLst/>
          </a:prstGeom>
          <a:noFill/>
          <a:ln/>
        </p:spPr>
        <p:txBody>
          <a:bodyPr wrap="square" lIns="0" tIns="0" rIns="0" bIns="0" rtlCol="0" anchor="ctr"/>
          <a:lstStyle/>
          <a:p>
            <a:pPr indent="0" marL="0">
              <a:lnSpc>
                <a:spcPct val="100000"/>
              </a:lnSpc>
              <a:buNone/>
            </a:pPr>
            <a:r>
              <a:rPr lang="en-US" sz="3000" b="1" dirty="0">
                <a:solidFill>
                  <a:srgbClr val="1D2433"/>
                </a:solidFill>
                <a:latin typeface="Arial" pitchFamily="34" charset="0"/>
                <a:ea typeface="Arial" pitchFamily="34" charset="-122"/>
                <a:cs typeface="Arial" pitchFamily="34" charset="-120"/>
              </a:rPr>
              <a:t>Into the same chain</a:t>
            </a:r>
            <a:endParaRPr lang="en-US" sz="3000" dirty="0"/>
          </a:p>
        </p:txBody>
      </p:sp>
      <p:sp>
        <p:nvSpPr>
          <p:cNvPr id="6" name="Text 3"/>
          <p:cNvSpPr/>
          <p:nvPr/>
        </p:nvSpPr>
        <p:spPr>
          <a:xfrm>
            <a:off x="6400800" y="2377440"/>
            <a:ext cx="5257800" cy="4023360"/>
          </a:xfrm>
          <a:prstGeom prst="rect">
            <a:avLst/>
          </a:prstGeom>
          <a:noFill/>
          <a:ln/>
        </p:spPr>
        <p:txBody>
          <a:bodyPr wrap="square" lIns="0" tIns="0" rIns="0" bIns="0" rtlCol="0" anchor="t"/>
          <a:lstStyle/>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Sealed bags scan into barcoded boxes — comic → bag → box → divider → shelf, the identical chain cards use</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Originals auto-archive to Dropbox — renamed to their bag number the moment the bag is bound</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Browsing is Publisher → Age — pick Marvel, pick Silver Age, see the books — with Format and Genre filters on top</a:t>
            </a:r>
            <a:endParaRPr lang="en-US" sz="1450" dirty="0"/>
          </a:p>
          <a:p>
            <a:pPr marL="177800" indent="-177800">
              <a:lnSpc>
                <a:spcPct val="112000"/>
              </a:lnSpc>
              <a:spcAft>
                <a:spcPts val="1000"/>
              </a:spcAft>
              <a:buSzPct val="100000"/>
              <a:buChar char="▪"/>
            </a:pPr>
            <a:r>
              <a:rPr lang="en-US" sz="1450" dirty="0">
                <a:solidFill>
                  <a:srgbClr val="1D2433"/>
                </a:solidFill>
                <a:latin typeface="Arial" pitchFamily="34" charset="0"/>
                <a:ea typeface="Arial" pitchFamily="34" charset="-122"/>
                <a:cs typeface="Arial" pitchFamily="34" charset="-120"/>
              </a:rPr>
              <a:t>The AI catalogs in the background — and your corrections always outrank it</a:t>
            </a:r>
            <a:endParaRPr lang="en-US" sz="1450" dirty="0"/>
          </a:p>
        </p:txBody>
      </p:sp>
      <p:sp>
        <p:nvSpPr>
          <p:cNvPr id="7" name="Text 4"/>
          <p:cNvSpPr/>
          <p:nvPr/>
        </p:nvSpPr>
        <p:spPr>
          <a:xfrm>
            <a:off x="502920" y="6473952"/>
            <a:ext cx="5486400" cy="274320"/>
          </a:xfrm>
          <a:prstGeom prst="rect">
            <a:avLst/>
          </a:prstGeom>
          <a:noFill/>
          <a:ln/>
        </p:spPr>
        <p:txBody>
          <a:bodyPr wrap="square" lIns="0" tIns="0" rIns="0" bIns="0" rtlCol="0" anchor="ctr"/>
          <a:lstStyle/>
          <a:p>
            <a:pPr indent="0" marL="0">
              <a:buNone/>
            </a:pPr>
            <a:r>
              <a:rPr lang="en-US" sz="900" b="1" spc="300" kern="0" dirty="0">
                <a:solidFill>
                  <a:srgbClr val="9AA1AF"/>
                </a:solidFill>
                <a:latin typeface="Arial" pitchFamily="34" charset="0"/>
                <a:ea typeface="Arial" pitchFamily="34" charset="-122"/>
                <a:cs typeface="Arial" pitchFamily="34" charset="-120"/>
              </a:rPr>
              <a:t>MAX COLLECTION  ·  VSS TECHNOLOGY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D24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6281928" y="0"/>
            <a:ext cx="5907024" cy="6858000"/>
          </a:xfrm>
          <a:prstGeom prst="rect">
            <a:avLst/>
          </a:prstGeom>
        </p:spPr>
      </p:pic>
      <p:sp>
        <p:nvSpPr>
          <p:cNvPr id="3" name="Text 0"/>
          <p:cNvSpPr/>
          <p:nvPr/>
        </p:nvSpPr>
        <p:spPr>
          <a:xfrm>
            <a:off x="502920" y="1554480"/>
            <a:ext cx="5486400" cy="548640"/>
          </a:xfrm>
          <a:prstGeom prst="rect">
            <a:avLst/>
          </a:prstGeom>
          <a:noFill/>
          <a:ln/>
        </p:spPr>
        <p:txBody>
          <a:bodyPr wrap="square" lIns="0" tIns="0" rIns="0" bIns="0" rtlCol="0" anchor="ctr"/>
          <a:lstStyle/>
          <a:p>
            <a:pPr indent="0" marL="0">
              <a:buNone/>
            </a:pPr>
            <a:r>
              <a:rPr lang="en-US" sz="2200" dirty="0">
                <a:solidFill>
                  <a:srgbClr val="CBD2DE"/>
                </a:solidFill>
                <a:latin typeface="Arial" pitchFamily="34" charset="0"/>
                <a:ea typeface="Arial" pitchFamily="34" charset="-122"/>
                <a:cs typeface="Arial" pitchFamily="34" charset="-120"/>
              </a:rPr>
              <a:t>Every comic can answer:</a:t>
            </a:r>
            <a:endParaRPr lang="en-US" sz="2200" dirty="0"/>
          </a:p>
        </p:txBody>
      </p:sp>
      <p:sp>
        <p:nvSpPr>
          <p:cNvPr id="4" name="Text 1"/>
          <p:cNvSpPr/>
          <p:nvPr/>
        </p:nvSpPr>
        <p:spPr>
          <a:xfrm>
            <a:off x="475488" y="2103120"/>
            <a:ext cx="5577840" cy="10058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“Where are you?”</a:t>
            </a:r>
            <a:endParaRPr lang="en-US" sz="4000" dirty="0"/>
          </a:p>
        </p:txBody>
      </p:sp>
      <p:sp>
        <p:nvSpPr>
          <p:cNvPr id="5" name="Text 2"/>
          <p:cNvSpPr/>
          <p:nvPr/>
        </p:nvSpPr>
        <p:spPr>
          <a:xfrm>
            <a:off x="502920" y="3429000"/>
            <a:ext cx="5486400" cy="457200"/>
          </a:xfrm>
          <a:prstGeom prst="rect">
            <a:avLst/>
          </a:prstGeom>
          <a:noFill/>
          <a:ln/>
        </p:spPr>
        <p:txBody>
          <a:bodyPr wrap="square" lIns="0" tIns="0" rIns="0" bIns="0" rtlCol="0" anchor="ctr"/>
          <a:lstStyle/>
          <a:p>
            <a:pPr indent="0" marL="0">
              <a:buNone/>
            </a:pPr>
            <a:r>
              <a:rPr lang="en-US" sz="1500" b="1" dirty="0">
                <a:solidFill>
                  <a:srgbClr val="8A93A6"/>
                </a:solidFill>
                <a:latin typeface="Courier New" pitchFamily="34" charset="0"/>
                <a:ea typeface="Courier New" pitchFamily="34" charset="-122"/>
                <a:cs typeface="Courier New" pitchFamily="34" charset="-120"/>
              </a:rPr>
              <a:t>COMIC  →  BAG  →  BOX  →  DIVIDER  →  SHELF</a:t>
            </a:r>
            <a:endParaRPr lang="en-US" sz="1500" dirty="0"/>
          </a:p>
        </p:txBody>
      </p:sp>
      <p:sp>
        <p:nvSpPr>
          <p:cNvPr id="6" name="Text 3"/>
          <p:cNvSpPr/>
          <p:nvPr/>
        </p:nvSpPr>
        <p:spPr>
          <a:xfrm>
            <a:off x="502920" y="4114800"/>
            <a:ext cx="5394960" cy="1280160"/>
          </a:xfrm>
          <a:prstGeom prst="rect">
            <a:avLst/>
          </a:prstGeom>
          <a:noFill/>
          <a:ln/>
        </p:spPr>
        <p:txBody>
          <a:bodyPr wrap="square" lIns="0" tIns="0" rIns="0" bIns="0" rtlCol="0" anchor="ctr"/>
          <a:lstStyle/>
          <a:p>
            <a:pPr indent="0" marL="0">
              <a:lnSpc>
                <a:spcPct val="125000"/>
              </a:lnSpc>
              <a:buNone/>
            </a:pPr>
            <a:r>
              <a:rPr lang="en-US" sz="1400" dirty="0">
                <a:solidFill>
                  <a:srgbClr val="CBD2DE"/>
                </a:solidFill>
                <a:latin typeface="Arial" pitchFamily="34" charset="0"/>
                <a:ea typeface="Arial" pitchFamily="34" charset="-122"/>
                <a:cs typeface="Arial" pitchFamily="34" charset="-120"/>
              </a:rPr>
              <a:t>One photograph digitizes six comics and files its own paperwork. Every scan recorded, every sticker accounted for, every book findable — same floor, same rules, same chain as the cards.</a:t>
            </a:r>
            <a:endParaRPr lang="en-US" sz="1400" dirty="0"/>
          </a:p>
        </p:txBody>
      </p:sp>
      <p:sp>
        <p:nvSpPr>
          <p:cNvPr id="7" name="Text 4"/>
          <p:cNvSpPr/>
          <p:nvPr/>
        </p:nvSpPr>
        <p:spPr>
          <a:xfrm>
            <a:off x="502920" y="5486400"/>
            <a:ext cx="5394960" cy="365760"/>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maxcollection.vsstechnology.com</a:t>
            </a:r>
            <a:endParaRPr lang="en-US" sz="1300" dirty="0"/>
          </a:p>
        </p:txBody>
      </p:sp>
      <p:sp>
        <p:nvSpPr>
          <p:cNvPr id="8" name="Text 5"/>
          <p:cNvSpPr/>
          <p:nvPr/>
        </p:nvSpPr>
        <p:spPr>
          <a:xfrm>
            <a:off x="502920" y="6473952"/>
            <a:ext cx="5486400" cy="274320"/>
          </a:xfrm>
          <a:prstGeom prst="rect">
            <a:avLst/>
          </a:prstGeom>
          <a:noFill/>
          <a:ln/>
        </p:spPr>
        <p:txBody>
          <a:bodyPr wrap="square" lIns="0" tIns="0" rIns="0" bIns="0" rtlCol="0" anchor="ctr"/>
          <a:lstStyle/>
          <a:p>
            <a:pPr indent="0" marL="0">
              <a:buNone/>
            </a:pPr>
            <a:r>
              <a:rPr lang="en-US" sz="900" b="1" spc="300" kern="0" dirty="0">
                <a:solidFill>
                  <a:srgbClr val="8A93A6"/>
                </a:solidFill>
                <a:latin typeface="Arial" pitchFamily="34" charset="0"/>
                <a:ea typeface="Arial" pitchFamily="34" charset="-122"/>
                <a:cs typeface="Arial" pitchFamily="34" charset="-120"/>
              </a:rPr>
              <a:t>MAX COLLECTION  ·  VSS TECHNOLOGY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2026-07-31T20:09:13Z</dcterms:created>
  <dcterms:modified xsi:type="dcterms:W3CDTF">2026-07-31T20:09:13Z</dcterms:modified>
</cp:coreProperties>
</file>